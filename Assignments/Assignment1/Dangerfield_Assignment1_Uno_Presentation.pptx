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Oswald"/>
      <p:regular r:id="rId21"/>
      <p:bold r:id="rId22"/>
    </p:embeddedFont>
    <p:embeddedFont>
      <p:font typeface="Archivo Black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Oswald-bold.fntdata"/><Relationship Id="rId10" Type="http://schemas.openxmlformats.org/officeDocument/2006/relationships/slide" Target="slides/slide5.xml"/><Relationship Id="rId21" Type="http://schemas.openxmlformats.org/officeDocument/2006/relationships/font" Target="fonts/Oswa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ArchivoBlac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409db3ced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409db3ced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09db3ced8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09db3ced8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b5c7739a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b5c7739a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409db3ced8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409db3ced8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b5c7739a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b5c7739a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b5c7739a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b5c7739a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b5c7739a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b5c7739a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b5c7739a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b5c7739a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b5c7739a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b5c7739a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b5c7739a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b5c7739a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b5c7739a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b5c7739a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09db3ced8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409db3ced8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409db3ced8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409db3ced8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409eb87f7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409eb87f7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naGBNw1bN0f5czvBRSXtbJ7vUlguD1rR/view" TargetMode="External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1ABD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20175" y="1095988"/>
            <a:ext cx="8078100" cy="2158800"/>
          </a:xfrm>
          <a:prstGeom prst="flowChartAlternateProcess">
            <a:avLst/>
          </a:prstGeom>
          <a:solidFill>
            <a:schemeClr val="lt1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298933" y="1149088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latin typeface="Archivo Black"/>
                <a:ea typeface="Archivo Black"/>
                <a:cs typeface="Archivo Black"/>
                <a:sym typeface="Archivo Black"/>
              </a:rPr>
              <a:t>Designing Interacting Objects with UNO</a:t>
            </a:r>
            <a:endParaRPr sz="4900"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45425" y="3483788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By Jadyn Dangerfield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Midwestern State University Computer Science Department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0" y="0"/>
            <a:ext cx="9144000" cy="2892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 rot="5400000">
            <a:off x="4438625" y="1393075"/>
            <a:ext cx="9144000" cy="289200"/>
          </a:xfrm>
          <a:prstGeom prst="rect">
            <a:avLst/>
          </a:prstGeom>
          <a:solidFill>
            <a:srgbClr val="F1C232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 rot="5400000">
            <a:off x="-3282750" y="3571850"/>
            <a:ext cx="6854700" cy="2892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-12775" y="4854300"/>
            <a:ext cx="9144000" cy="289200"/>
          </a:xfrm>
          <a:prstGeom prst="rect">
            <a:avLst/>
          </a:prstGeom>
          <a:solidFill>
            <a:srgbClr val="56C265"/>
          </a:solidFill>
          <a:ln cap="flat" cmpd="sng" w="9525">
            <a:solidFill>
              <a:srgbClr val="56C2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title="uno-card-color-scheme-4ww1j8bmo4xj8kbz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88700"/>
            <a:ext cx="9144003" cy="435479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type="title"/>
          </p:nvPr>
        </p:nvSpPr>
        <p:spPr>
          <a:xfrm>
            <a:off x="0" y="0"/>
            <a:ext cx="9144000" cy="78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Scenario</a:t>
            </a:r>
            <a:endParaRPr sz="282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1ABD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426125" y="1017725"/>
            <a:ext cx="2579400" cy="3878700"/>
          </a:xfrm>
          <a:prstGeom prst="flowChartAlternateProcess">
            <a:avLst/>
          </a:prstGeom>
          <a:solidFill>
            <a:schemeClr val="lt1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Objective</a:t>
            </a:r>
            <a:endParaRPr b="1">
              <a:solidFill>
                <a:srgbClr val="FF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The first player to play all the cards in their hand wins!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QUICK TIPS</a:t>
            </a:r>
            <a:endParaRPr b="1">
              <a:solidFill>
                <a:srgbClr val="FF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 player must call “UNO!” before playing their second to last card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Call “UNO OUT!” when your last card is played.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0" y="0"/>
            <a:ext cx="9144000" cy="78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Game Rules</a:t>
            </a:r>
            <a:endParaRPr sz="282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3282288" y="1017725"/>
            <a:ext cx="2579400" cy="3878700"/>
          </a:xfrm>
          <a:prstGeom prst="flowChartAlternateProcess">
            <a:avLst/>
          </a:prstGeom>
          <a:solidFill>
            <a:schemeClr val="lt1"/>
          </a:solidFill>
          <a:ln cap="flat" cmpd="sng" w="762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  <a:latin typeface="Oswald"/>
                <a:ea typeface="Oswald"/>
                <a:cs typeface="Oswald"/>
                <a:sym typeface="Oswald"/>
              </a:rPr>
              <a:t>Set Up</a:t>
            </a:r>
            <a:endParaRPr b="1">
              <a:solidFill>
                <a:srgbClr val="F1C23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Deal 7 cards to each player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Place the remaining cards face down, this will be the </a:t>
            </a:r>
            <a:r>
              <a:rPr b="1" lang="en">
                <a:latin typeface="Oswald"/>
                <a:ea typeface="Oswald"/>
                <a:cs typeface="Oswald"/>
                <a:sym typeface="Oswald"/>
              </a:rPr>
              <a:t>DRAW PILE</a:t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Draw one card from the </a:t>
            </a:r>
            <a:r>
              <a:rPr b="1" lang="en">
                <a:latin typeface="Oswald"/>
                <a:ea typeface="Oswald"/>
                <a:cs typeface="Oswald"/>
                <a:sym typeface="Oswald"/>
              </a:rPr>
              <a:t>DRAW PILE</a:t>
            </a:r>
            <a:r>
              <a:rPr lang="en">
                <a:latin typeface="Oswald"/>
                <a:ea typeface="Oswald"/>
                <a:cs typeface="Oswald"/>
                <a:sym typeface="Oswald"/>
              </a:rPr>
              <a:t> and put int next to it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This is the </a:t>
            </a:r>
            <a:r>
              <a:rPr b="1" lang="en">
                <a:latin typeface="Oswald"/>
                <a:ea typeface="Oswald"/>
                <a:cs typeface="Oswald"/>
                <a:sym typeface="Oswald"/>
              </a:rPr>
              <a:t>DISCARD PILE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6138475" y="1017725"/>
            <a:ext cx="2579400" cy="3878700"/>
          </a:xfrm>
          <a:prstGeom prst="flowChartAlternateProcess">
            <a:avLst/>
          </a:prstGeom>
          <a:solidFill>
            <a:schemeClr val="lt1"/>
          </a:solidFill>
          <a:ln cap="flat" cmpd="sng" w="76200">
            <a:solidFill>
              <a:srgbClr val="56C2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6C265"/>
                </a:solidFill>
                <a:latin typeface="Oswald"/>
                <a:ea typeface="Oswald"/>
                <a:cs typeface="Oswald"/>
                <a:sym typeface="Oswald"/>
              </a:rPr>
              <a:t>Let’s Play!</a:t>
            </a:r>
            <a:endParaRPr b="1">
              <a:solidFill>
                <a:srgbClr val="56C265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swald"/>
              <a:buChar char="●"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Match the card on top of the </a:t>
            </a:r>
            <a:r>
              <a:rPr b="1"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DISCARD PILE</a:t>
            </a:r>
            <a:endParaRPr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swald"/>
              <a:buChar char="●"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Color, number, and symbols are matches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swald"/>
              <a:buChar char="●"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Wild and Wild Draw Four cards can be played on any color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swald"/>
              <a:buChar char="●"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If you can’t play a card, draw 1 card from the </a:t>
            </a:r>
            <a:r>
              <a:rPr b="1"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DRAW PILE</a:t>
            </a:r>
            <a:endParaRPr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swald"/>
              <a:buChar char="●"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You can only play one card at a time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75" name="Google Shape;75;p15" title="uno_card_back_by_wackosamurai_d9gnihf-full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716199" y="3625751"/>
            <a:ext cx="716600" cy="11191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76" name="Google Shape;76;p15" title="3978314.jpg"/>
          <p:cNvPicPr preferRelativeResize="0"/>
          <p:nvPr/>
        </p:nvPicPr>
        <p:blipFill rotWithShape="1">
          <a:blip r:embed="rId4">
            <a:alphaModFix/>
          </a:blip>
          <a:srcRect b="66628" l="50785" r="25376" t="0"/>
          <a:stretch/>
        </p:blipFill>
        <p:spPr>
          <a:xfrm>
            <a:off x="4728625" y="3624250"/>
            <a:ext cx="716600" cy="11221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1ABD3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 title="uno-deck-printable-01-1536x1034.jpg"/>
          <p:cNvPicPr preferRelativeResize="0"/>
          <p:nvPr/>
        </p:nvPicPr>
        <p:blipFill rotWithShape="1">
          <a:blip r:embed="rId3">
            <a:alphaModFix/>
          </a:blip>
          <a:srcRect b="2816" l="0" r="49812" t="2045"/>
          <a:stretch/>
        </p:blipFill>
        <p:spPr>
          <a:xfrm>
            <a:off x="4185900" y="788700"/>
            <a:ext cx="2270354" cy="289727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>
            <p:ph type="title"/>
          </p:nvPr>
        </p:nvSpPr>
        <p:spPr>
          <a:xfrm>
            <a:off x="0" y="0"/>
            <a:ext cx="9144000" cy="78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Game Cards</a:t>
            </a:r>
            <a:endParaRPr sz="282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173150" y="879325"/>
            <a:ext cx="1609500" cy="2047800"/>
          </a:xfrm>
          <a:prstGeom prst="flowChartAlternateProcess">
            <a:avLst/>
          </a:prstGeom>
          <a:solidFill>
            <a:schemeClr val="lt1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108 total cards</a:t>
            </a:r>
            <a:endParaRPr b="1" sz="1800">
              <a:solidFill>
                <a:srgbClr val="FF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73150" y="3017750"/>
            <a:ext cx="1609500" cy="2047800"/>
          </a:xfrm>
          <a:prstGeom prst="flowChartAlternateProcess">
            <a:avLst/>
          </a:prstGeom>
          <a:solidFill>
            <a:schemeClr val="lt1"/>
          </a:solidFill>
          <a:ln cap="flat" cmpd="sng" w="76200">
            <a:solidFill>
              <a:srgbClr val="56C2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6C265"/>
                </a:solidFill>
                <a:latin typeface="Oswald"/>
                <a:ea typeface="Oswald"/>
                <a:cs typeface="Oswald"/>
                <a:sym typeface="Oswald"/>
              </a:rPr>
              <a:t>24 Action cards</a:t>
            </a:r>
            <a:r>
              <a:rPr lang="en">
                <a:latin typeface="Oswald"/>
                <a:ea typeface="Oswald"/>
                <a:cs typeface="Oswald"/>
                <a:sym typeface="Oswald"/>
              </a:rPr>
              <a:t> (skip, reverse, plus two)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6 total of each color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-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1 of each action card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2179525" y="879325"/>
            <a:ext cx="1609500" cy="2047800"/>
          </a:xfrm>
          <a:prstGeom prst="flowChartAlternateProcess">
            <a:avLst/>
          </a:prstGeom>
          <a:solidFill>
            <a:schemeClr val="lt1"/>
          </a:solidFill>
          <a:ln cap="flat" cmpd="sng" w="762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1C232"/>
                </a:solidFill>
                <a:latin typeface="Oswald"/>
                <a:ea typeface="Oswald"/>
                <a:cs typeface="Oswald"/>
                <a:sym typeface="Oswald"/>
              </a:rPr>
              <a:t>76 Number cards</a:t>
            </a:r>
            <a:endParaRPr b="1">
              <a:solidFill>
                <a:srgbClr val="F1C23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19 of each color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-"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1 number zero and 2 sets of cards numbered 1-9</a:t>
            </a:r>
            <a:r>
              <a:rPr lang="en">
                <a:latin typeface="Oswald"/>
                <a:ea typeface="Oswald"/>
                <a:cs typeface="Oswald"/>
                <a:sym typeface="Oswald"/>
              </a:rPr>
              <a:t>.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179525" y="3017750"/>
            <a:ext cx="1609500" cy="2047800"/>
          </a:xfrm>
          <a:prstGeom prst="flowChartAlternateProcess">
            <a:avLst/>
          </a:prstGeom>
          <a:solidFill>
            <a:schemeClr val="lt1"/>
          </a:solidFill>
          <a:ln cap="flat" cmpd="sng" w="762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C4587"/>
                </a:solidFill>
                <a:latin typeface="Oswald"/>
                <a:ea typeface="Oswald"/>
                <a:cs typeface="Oswald"/>
                <a:sym typeface="Oswald"/>
              </a:rPr>
              <a:t>8 Wild cards</a:t>
            </a:r>
            <a:endParaRPr b="1">
              <a:solidFill>
                <a:srgbClr val="1C4587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-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4 Wild cards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-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4 Wild Plus Four cards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87" name="Google Shape;87;p16" title="uno-deck-printable-01-1536x1034.jpg"/>
          <p:cNvPicPr preferRelativeResize="0"/>
          <p:nvPr/>
        </p:nvPicPr>
        <p:blipFill rotWithShape="1">
          <a:blip r:embed="rId3">
            <a:alphaModFix/>
          </a:blip>
          <a:srcRect b="2436" l="49812" r="0" t="2426"/>
          <a:stretch/>
        </p:blipFill>
        <p:spPr>
          <a:xfrm>
            <a:off x="6587125" y="2082125"/>
            <a:ext cx="2398952" cy="306137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4228025" y="843200"/>
            <a:ext cx="2264600" cy="2818675"/>
          </a:xfrm>
          <a:custGeom>
            <a:rect b="b" l="l" r="r" t="t"/>
            <a:pathLst>
              <a:path extrusionOk="0" h="112747" w="90584">
                <a:moveTo>
                  <a:pt x="482" y="482"/>
                </a:moveTo>
                <a:lnTo>
                  <a:pt x="0" y="112265"/>
                </a:lnTo>
                <a:lnTo>
                  <a:pt x="59265" y="112747"/>
                </a:lnTo>
                <a:lnTo>
                  <a:pt x="59747" y="92029"/>
                </a:lnTo>
                <a:lnTo>
                  <a:pt x="90584" y="91547"/>
                </a:lnTo>
                <a:lnTo>
                  <a:pt x="90584" y="0"/>
                </a:lnTo>
                <a:close/>
              </a:path>
            </a:pathLst>
          </a:custGeom>
          <a:noFill/>
          <a:ln cap="flat" cmpd="sng" w="38100">
            <a:solidFill>
              <a:srgbClr val="F1C23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9" name="Google Shape;89;p16"/>
          <p:cNvSpPr/>
          <p:nvPr/>
        </p:nvSpPr>
        <p:spPr>
          <a:xfrm>
            <a:off x="6601025" y="2120025"/>
            <a:ext cx="1180475" cy="2409150"/>
          </a:xfrm>
          <a:custGeom>
            <a:rect b="b" l="l" r="r" t="t"/>
            <a:pathLst>
              <a:path extrusionOk="0" h="96366" w="47219">
                <a:moveTo>
                  <a:pt x="964" y="0"/>
                </a:moveTo>
                <a:lnTo>
                  <a:pt x="46737" y="964"/>
                </a:lnTo>
                <a:lnTo>
                  <a:pt x="47219" y="96366"/>
                </a:lnTo>
                <a:lnTo>
                  <a:pt x="0" y="95402"/>
                </a:lnTo>
                <a:close/>
              </a:path>
            </a:pathLst>
          </a:custGeom>
          <a:noFill/>
          <a:ln cap="flat" cmpd="sng" w="38100">
            <a:solidFill>
              <a:srgbClr val="F1C23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0" name="Google Shape;90;p16"/>
          <p:cNvSpPr/>
          <p:nvPr/>
        </p:nvSpPr>
        <p:spPr>
          <a:xfrm>
            <a:off x="7781500" y="2120025"/>
            <a:ext cx="1180475" cy="2409150"/>
          </a:xfrm>
          <a:custGeom>
            <a:rect b="b" l="l" r="r" t="t"/>
            <a:pathLst>
              <a:path extrusionOk="0" h="96366" w="47219">
                <a:moveTo>
                  <a:pt x="964" y="0"/>
                </a:moveTo>
                <a:lnTo>
                  <a:pt x="46737" y="964"/>
                </a:lnTo>
                <a:lnTo>
                  <a:pt x="47219" y="96366"/>
                </a:lnTo>
                <a:lnTo>
                  <a:pt x="0" y="95402"/>
                </a:lnTo>
                <a:close/>
              </a:path>
            </a:pathLst>
          </a:custGeom>
          <a:noFill/>
          <a:ln cap="flat" cmpd="sng" w="38100">
            <a:solidFill>
              <a:srgbClr val="56C26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1" name="Google Shape;91;p16"/>
          <p:cNvSpPr/>
          <p:nvPr/>
        </p:nvSpPr>
        <p:spPr>
          <a:xfrm>
            <a:off x="5721700" y="3180050"/>
            <a:ext cx="770947" cy="481824"/>
          </a:xfrm>
          <a:custGeom>
            <a:rect b="b" l="l" r="r" t="t"/>
            <a:pathLst>
              <a:path extrusionOk="0" h="19755" w="29873">
                <a:moveTo>
                  <a:pt x="1445" y="964"/>
                </a:moveTo>
                <a:lnTo>
                  <a:pt x="0" y="19755"/>
                </a:lnTo>
                <a:lnTo>
                  <a:pt x="29873" y="19273"/>
                </a:lnTo>
                <a:lnTo>
                  <a:pt x="29391" y="0"/>
                </a:lnTo>
                <a:close/>
              </a:path>
            </a:pathLst>
          </a:custGeom>
          <a:noFill/>
          <a:ln cap="flat" cmpd="sng" w="381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2" name="Google Shape;92;p16"/>
          <p:cNvSpPr/>
          <p:nvPr/>
        </p:nvSpPr>
        <p:spPr>
          <a:xfrm>
            <a:off x="6619275" y="4521350"/>
            <a:ext cx="2339050" cy="602850"/>
          </a:xfrm>
          <a:custGeom>
            <a:rect b="b" l="l" r="r" t="t"/>
            <a:pathLst>
              <a:path extrusionOk="0" h="24114" w="93562">
                <a:moveTo>
                  <a:pt x="0" y="0"/>
                </a:moveTo>
                <a:lnTo>
                  <a:pt x="0" y="24114"/>
                </a:lnTo>
                <a:lnTo>
                  <a:pt x="93080" y="23632"/>
                </a:lnTo>
                <a:lnTo>
                  <a:pt x="93562" y="1930"/>
                </a:lnTo>
                <a:close/>
              </a:path>
            </a:pathLst>
          </a:custGeom>
          <a:noFill/>
          <a:ln cap="flat" cmpd="sng" w="381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788700"/>
            <a:ext cx="8520600" cy="6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The parent class within this file is class </a:t>
            </a:r>
            <a:r>
              <a:rPr b="1" lang="en" sz="140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Card</a:t>
            </a:r>
            <a:r>
              <a:rPr lang="en" sz="1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which holds all of the shared data and default behavior. The methods include:</a:t>
            </a:r>
            <a:endParaRPr sz="1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8" name="Google Shape;98;p17"/>
          <p:cNvSpPr txBox="1"/>
          <p:nvPr>
            <p:ph type="title"/>
          </p:nvPr>
        </p:nvSpPr>
        <p:spPr>
          <a:xfrm>
            <a:off x="0" y="0"/>
            <a:ext cx="9144000" cy="78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card.py </a:t>
            </a:r>
            <a:endParaRPr sz="282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1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Defines she </a:t>
            </a:r>
            <a:r>
              <a:rPr b="1" lang="en" sz="112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Card</a:t>
            </a:r>
            <a:r>
              <a:rPr lang="en" sz="11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 class hierarchy</a:t>
            </a:r>
            <a:endParaRPr sz="112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99" name="Google Shape;99;p17" title="Screenshot 2026-09-14 192828.png"/>
          <p:cNvPicPr preferRelativeResize="0"/>
          <p:nvPr/>
        </p:nvPicPr>
        <p:blipFill rotWithShape="1">
          <a:blip r:embed="rId3">
            <a:alphaModFix/>
          </a:blip>
          <a:srcRect b="48344" l="0" r="18904" t="9577"/>
          <a:stretch/>
        </p:blipFill>
        <p:spPr>
          <a:xfrm>
            <a:off x="88188" y="1445775"/>
            <a:ext cx="4672705" cy="323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 title="Screenshot 2026-09-14 192828.png"/>
          <p:cNvPicPr preferRelativeResize="0"/>
          <p:nvPr/>
        </p:nvPicPr>
        <p:blipFill rotWithShape="1">
          <a:blip r:embed="rId3">
            <a:alphaModFix/>
          </a:blip>
          <a:srcRect b="0" l="0" r="14089" t="51501"/>
          <a:stretch/>
        </p:blipFill>
        <p:spPr>
          <a:xfrm>
            <a:off x="4760888" y="1445775"/>
            <a:ext cx="4294932" cy="32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788700"/>
            <a:ext cx="8520600" cy="6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The parent class within this file is class </a:t>
            </a:r>
            <a:r>
              <a:rPr b="1" lang="en" sz="140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Card</a:t>
            </a:r>
            <a:r>
              <a:rPr lang="en" sz="1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which holds all of the shared data and default behavior. The methods include:</a:t>
            </a:r>
            <a:endParaRPr sz="1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6" name="Google Shape;106;p18"/>
          <p:cNvSpPr txBox="1"/>
          <p:nvPr>
            <p:ph type="title"/>
          </p:nvPr>
        </p:nvSpPr>
        <p:spPr>
          <a:xfrm>
            <a:off x="0" y="0"/>
            <a:ext cx="9144000" cy="78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card.py </a:t>
            </a:r>
            <a:endParaRPr sz="282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1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Defines she </a:t>
            </a:r>
            <a:r>
              <a:rPr b="1" lang="en" sz="112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Card</a:t>
            </a:r>
            <a:r>
              <a:rPr lang="en" sz="11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 class hierarchy</a:t>
            </a:r>
            <a:endParaRPr sz="112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107" name="Google Shape;107;p18" title="Screenshot 2026-09-14 193107.png"/>
          <p:cNvPicPr preferRelativeResize="0"/>
          <p:nvPr/>
        </p:nvPicPr>
        <p:blipFill rotWithShape="1">
          <a:blip r:embed="rId3">
            <a:alphaModFix/>
          </a:blip>
          <a:srcRect b="60321" l="0" r="11481" t="0"/>
          <a:stretch/>
        </p:blipFill>
        <p:spPr>
          <a:xfrm>
            <a:off x="239375" y="1551425"/>
            <a:ext cx="4260300" cy="3095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 title="Screenshot 2026-09-14 193107.png"/>
          <p:cNvPicPr preferRelativeResize="0"/>
          <p:nvPr/>
        </p:nvPicPr>
        <p:blipFill rotWithShape="1">
          <a:blip r:embed="rId3">
            <a:alphaModFix/>
          </a:blip>
          <a:srcRect b="29319" l="0" r="11481" t="39678"/>
          <a:stretch/>
        </p:blipFill>
        <p:spPr>
          <a:xfrm>
            <a:off x="4641925" y="1213825"/>
            <a:ext cx="3557367" cy="201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 title="Screenshot 2026-09-14 193107.png"/>
          <p:cNvPicPr preferRelativeResize="0"/>
          <p:nvPr/>
        </p:nvPicPr>
        <p:blipFill rotWithShape="1">
          <a:blip r:embed="rId3">
            <a:alphaModFix/>
          </a:blip>
          <a:srcRect b="0" l="0" r="11481" t="70681"/>
          <a:stretch/>
        </p:blipFill>
        <p:spPr>
          <a:xfrm>
            <a:off x="4641925" y="3233497"/>
            <a:ext cx="3557367" cy="1910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788700"/>
            <a:ext cx="8520600" cy="6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The parent class within this file is class </a:t>
            </a:r>
            <a:r>
              <a:rPr b="1" lang="en" sz="140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Card</a:t>
            </a:r>
            <a:r>
              <a:rPr lang="en" sz="1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which holds all of the shared data and default behavior. The methods include:</a:t>
            </a:r>
            <a:endParaRPr sz="1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5" name="Google Shape;115;p19"/>
          <p:cNvSpPr txBox="1"/>
          <p:nvPr>
            <p:ph type="title"/>
          </p:nvPr>
        </p:nvSpPr>
        <p:spPr>
          <a:xfrm>
            <a:off x="0" y="0"/>
            <a:ext cx="9144000" cy="78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card.py </a:t>
            </a:r>
            <a:endParaRPr sz="282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1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Defines she </a:t>
            </a:r>
            <a:r>
              <a:rPr b="1" lang="en" sz="112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Card</a:t>
            </a:r>
            <a:r>
              <a:rPr lang="en" sz="11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 class hierarchy</a:t>
            </a:r>
            <a:endParaRPr sz="112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116" name="Google Shape;116;p19" title="Screenshot 2026-09-14 193132.png"/>
          <p:cNvPicPr preferRelativeResize="0"/>
          <p:nvPr/>
        </p:nvPicPr>
        <p:blipFill rotWithShape="1">
          <a:blip r:embed="rId3">
            <a:alphaModFix/>
          </a:blip>
          <a:srcRect b="46921" l="0" r="0" t="0"/>
          <a:stretch/>
        </p:blipFill>
        <p:spPr>
          <a:xfrm>
            <a:off x="60238" y="1452425"/>
            <a:ext cx="4260299" cy="3300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 title="Screenshot 2026-09-14 193132.png"/>
          <p:cNvPicPr preferRelativeResize="0"/>
          <p:nvPr/>
        </p:nvPicPr>
        <p:blipFill rotWithShape="1">
          <a:blip r:embed="rId3">
            <a:alphaModFix/>
          </a:blip>
          <a:srcRect b="0" l="0" r="0" t="52526"/>
          <a:stretch/>
        </p:blipFill>
        <p:spPr>
          <a:xfrm>
            <a:off x="4320538" y="1452425"/>
            <a:ext cx="4763233" cy="330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311700" y="788700"/>
            <a:ext cx="8520600" cy="6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 </a:t>
            </a:r>
            <a:r>
              <a:rPr b="1" lang="en" sz="140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lang="en" sz="140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layer</a:t>
            </a: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object holds a hand and only acts when the </a:t>
            </a:r>
            <a:r>
              <a:rPr b="1" lang="en" sz="140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Game</a:t>
            </a: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coordinator calls its methods, so it doesn’t act on its own. The only class within this file is class </a:t>
            </a:r>
            <a:r>
              <a:rPr b="1" lang="en" sz="140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lang="en" sz="140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layer</a:t>
            </a: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which holds each player’s card hand. The methods include:</a:t>
            </a:r>
            <a:endParaRPr sz="1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3" name="Google Shape;123;p20"/>
          <p:cNvSpPr txBox="1"/>
          <p:nvPr>
            <p:ph type="title"/>
          </p:nvPr>
        </p:nvSpPr>
        <p:spPr>
          <a:xfrm>
            <a:off x="0" y="0"/>
            <a:ext cx="9144000" cy="78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player</a:t>
            </a:r>
            <a:r>
              <a:rPr lang="en" sz="28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.py </a:t>
            </a:r>
            <a:endParaRPr sz="282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12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Defines she </a:t>
            </a:r>
            <a:r>
              <a:rPr b="1" lang="en" sz="112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Player</a:t>
            </a:r>
            <a:r>
              <a:rPr lang="en" sz="112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class</a:t>
            </a:r>
            <a:endParaRPr sz="112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4" name="Google Shape;124;p20" title="Screenshot 2026-09-14 1918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075" y="1484475"/>
            <a:ext cx="4047196" cy="357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 title="Screenshot 2026-09-14 1918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7898" y="1484475"/>
            <a:ext cx="3592553" cy="3579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311700" y="788700"/>
            <a:ext cx="8520600" cy="6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This is what drives interaction between </a:t>
            </a:r>
            <a:r>
              <a:rPr b="1" lang="en" sz="140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Card</a:t>
            </a: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and </a:t>
            </a:r>
            <a:r>
              <a:rPr b="1" lang="en" sz="140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Player</a:t>
            </a: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objects. The methods include:</a:t>
            </a:r>
            <a:endParaRPr sz="1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21"/>
          <p:cNvSpPr txBox="1"/>
          <p:nvPr>
            <p:ph type="title"/>
          </p:nvPr>
        </p:nvSpPr>
        <p:spPr>
          <a:xfrm>
            <a:off x="0" y="0"/>
            <a:ext cx="9144000" cy="78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game</a:t>
            </a:r>
            <a:r>
              <a:rPr lang="en" sz="28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.py </a:t>
            </a:r>
            <a:endParaRPr sz="282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12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Defines she </a:t>
            </a:r>
            <a:r>
              <a:rPr b="1" lang="en" sz="112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Game</a:t>
            </a:r>
            <a:r>
              <a:rPr lang="en" sz="112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class</a:t>
            </a:r>
            <a:endParaRPr sz="112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2" name="Google Shape;132;p21" title="Screenshot 2026-09-14 192043.png"/>
          <p:cNvPicPr preferRelativeResize="0"/>
          <p:nvPr/>
        </p:nvPicPr>
        <p:blipFill rotWithShape="1">
          <a:blip r:embed="rId3">
            <a:alphaModFix/>
          </a:blip>
          <a:srcRect b="46025" l="0" r="0" t="25171"/>
          <a:stretch/>
        </p:blipFill>
        <p:spPr>
          <a:xfrm>
            <a:off x="183550" y="2143075"/>
            <a:ext cx="4388451" cy="2044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1" title="Screenshot 2026-09-14 192043.png"/>
          <p:cNvPicPr preferRelativeResize="0"/>
          <p:nvPr/>
        </p:nvPicPr>
        <p:blipFill rotWithShape="1">
          <a:blip r:embed="rId3">
            <a:alphaModFix/>
          </a:blip>
          <a:srcRect b="0" l="0" r="0" t="52783"/>
          <a:stretch/>
        </p:blipFill>
        <p:spPr>
          <a:xfrm>
            <a:off x="5073900" y="1730075"/>
            <a:ext cx="3758400" cy="287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788700"/>
            <a:ext cx="8520600" cy="6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This is what drives interaction between </a:t>
            </a:r>
            <a:r>
              <a:rPr b="1" lang="en" sz="140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Card</a:t>
            </a: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and </a:t>
            </a:r>
            <a:r>
              <a:rPr b="1" lang="en" sz="140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Player</a:t>
            </a: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objects. The methods include:</a:t>
            </a:r>
            <a:endParaRPr sz="1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22"/>
          <p:cNvSpPr txBox="1"/>
          <p:nvPr>
            <p:ph type="title"/>
          </p:nvPr>
        </p:nvSpPr>
        <p:spPr>
          <a:xfrm>
            <a:off x="0" y="0"/>
            <a:ext cx="9144000" cy="78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game.py </a:t>
            </a:r>
            <a:endParaRPr sz="282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12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Defines she </a:t>
            </a:r>
            <a:r>
              <a:rPr b="1" lang="en" sz="112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Game</a:t>
            </a:r>
            <a:r>
              <a:rPr lang="en" sz="112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class</a:t>
            </a:r>
            <a:endParaRPr sz="112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0" name="Google Shape;140;p22" title="Screenshot 2026-09-14 192131.png"/>
          <p:cNvPicPr preferRelativeResize="0"/>
          <p:nvPr/>
        </p:nvPicPr>
        <p:blipFill rotWithShape="1">
          <a:blip r:embed="rId3">
            <a:alphaModFix/>
          </a:blip>
          <a:srcRect b="53049" l="0" r="0" t="0"/>
          <a:stretch/>
        </p:blipFill>
        <p:spPr>
          <a:xfrm>
            <a:off x="179962" y="1868852"/>
            <a:ext cx="4051952" cy="2387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 title="Screenshot 2026-09-14 192131.png"/>
          <p:cNvPicPr preferRelativeResize="0"/>
          <p:nvPr/>
        </p:nvPicPr>
        <p:blipFill rotWithShape="1">
          <a:blip r:embed="rId3">
            <a:alphaModFix/>
          </a:blip>
          <a:srcRect b="0" l="0" r="0" t="46772"/>
          <a:stretch/>
        </p:blipFill>
        <p:spPr>
          <a:xfrm>
            <a:off x="4912085" y="1709275"/>
            <a:ext cx="4051952" cy="27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311700" y="788700"/>
            <a:ext cx="8520600" cy="6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This is what drives interaction between </a:t>
            </a:r>
            <a:r>
              <a:rPr b="1" lang="en" sz="140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Card</a:t>
            </a: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and </a:t>
            </a:r>
            <a:r>
              <a:rPr b="1" lang="en" sz="140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Player</a:t>
            </a: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objects. The methods include:</a:t>
            </a:r>
            <a:endParaRPr sz="1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7" name="Google Shape;147;p23"/>
          <p:cNvSpPr txBox="1"/>
          <p:nvPr>
            <p:ph type="title"/>
          </p:nvPr>
        </p:nvSpPr>
        <p:spPr>
          <a:xfrm>
            <a:off x="0" y="0"/>
            <a:ext cx="9144000" cy="78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game.py </a:t>
            </a:r>
            <a:endParaRPr sz="282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12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Defines she </a:t>
            </a:r>
            <a:r>
              <a:rPr b="1" lang="en" sz="1120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Game</a:t>
            </a:r>
            <a:r>
              <a:rPr lang="en" sz="112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class</a:t>
            </a:r>
            <a:endParaRPr sz="112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8" name="Google Shape;148;p23" title="Screenshot 2026-09-14 192153.png"/>
          <p:cNvPicPr preferRelativeResize="0"/>
          <p:nvPr/>
        </p:nvPicPr>
        <p:blipFill rotWithShape="1">
          <a:blip r:embed="rId3">
            <a:alphaModFix/>
          </a:blip>
          <a:srcRect b="16037" l="0" r="0" t="0"/>
          <a:stretch/>
        </p:blipFill>
        <p:spPr>
          <a:xfrm>
            <a:off x="358638" y="1309075"/>
            <a:ext cx="3187401" cy="383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 title="Screenshot 2026-09-14 192153.png"/>
          <p:cNvPicPr preferRelativeResize="0"/>
          <p:nvPr/>
        </p:nvPicPr>
        <p:blipFill rotWithShape="1">
          <a:blip r:embed="rId3">
            <a:alphaModFix/>
          </a:blip>
          <a:srcRect b="0" l="0" r="0" t="83915"/>
          <a:stretch/>
        </p:blipFill>
        <p:spPr>
          <a:xfrm>
            <a:off x="4024588" y="2433624"/>
            <a:ext cx="4760776" cy="1097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0" y="0"/>
            <a:ext cx="9144000" cy="78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main</a:t>
            </a:r>
            <a:r>
              <a:rPr lang="en" sz="28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.py </a:t>
            </a:r>
            <a:endParaRPr sz="282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12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main entry point of the game</a:t>
            </a:r>
            <a:endParaRPr sz="112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5" name="Google Shape;155;p24" title="Screenshot 2026-09-14 1917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825" y="917000"/>
            <a:ext cx="5790361" cy="40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1ABD3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/>
          <p:nvPr/>
        </p:nvSpPr>
        <p:spPr>
          <a:xfrm>
            <a:off x="325550" y="1591525"/>
            <a:ext cx="8488200" cy="2037600"/>
          </a:xfrm>
          <a:prstGeom prst="flowChartAlternateProcess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Game</a:t>
            </a: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is the coordinator and entry point (the </a:t>
            </a: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__name__ ==</a:t>
            </a:r>
            <a:r>
              <a:rPr b="1" lang="en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9FC5E8"/>
                </a:solidFill>
                <a:latin typeface="Courier New"/>
                <a:ea typeface="Courier New"/>
                <a:cs typeface="Courier New"/>
                <a:sym typeface="Courier New"/>
              </a:rPr>
              <a:t>"__main__"</a:t>
            </a: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block). It never lets </a:t>
            </a:r>
            <a:r>
              <a:rPr b="1" lang="en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Player</a:t>
            </a: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or </a:t>
            </a:r>
            <a:r>
              <a:rPr b="1" lang="en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Card</a:t>
            </a: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objects act on their own. It calls </a:t>
            </a: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player.</a:t>
            </a:r>
            <a:r>
              <a:rPr b="1" lang="en">
                <a:solidFill>
                  <a:srgbClr val="9B53AF"/>
                </a:solidFill>
                <a:latin typeface="Courier New"/>
                <a:ea typeface="Courier New"/>
                <a:cs typeface="Courier New"/>
                <a:sym typeface="Courier New"/>
              </a:rPr>
              <a:t>choose_card</a:t>
            </a: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, then </a:t>
            </a: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card.</a:t>
            </a:r>
            <a:r>
              <a:rPr b="1" lang="en">
                <a:solidFill>
                  <a:srgbClr val="9B53AF"/>
                </a:solidFill>
                <a:latin typeface="Courier New"/>
                <a:ea typeface="Courier New"/>
                <a:cs typeface="Courier New"/>
                <a:sym typeface="Courier New"/>
              </a:rPr>
              <a:t>play</a:t>
            </a: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(self)</a:t>
            </a: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, which is where the real object-to-object interaction happens (a </a:t>
            </a:r>
            <a:r>
              <a:rPr b="1" lang="en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DrawTwoCard</a:t>
            </a: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reaching into another </a:t>
            </a:r>
            <a:r>
              <a:rPr b="1" lang="en">
                <a:solidFill>
                  <a:srgbClr val="4DAC9E"/>
                </a:solidFill>
                <a:latin typeface="Courier New"/>
                <a:ea typeface="Courier New"/>
                <a:cs typeface="Courier New"/>
                <a:sym typeface="Courier New"/>
              </a:rPr>
              <a:t>Player</a:t>
            </a: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's</a:t>
            </a: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hand and calling </a:t>
            </a:r>
            <a:r>
              <a:rPr b="1" lang="en">
                <a:solidFill>
                  <a:srgbClr val="9B53AF"/>
                </a:solidFill>
                <a:latin typeface="Courier New"/>
                <a:ea typeface="Courier New"/>
                <a:cs typeface="Courier New"/>
                <a:sym typeface="Courier New"/>
              </a:rPr>
              <a:t>draw</a:t>
            </a: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on it). </a:t>
            </a:r>
            <a:endParaRPr/>
          </a:p>
        </p:txBody>
      </p:sp>
      <p:sp>
        <p:nvSpPr>
          <p:cNvPr id="162" name="Google Shape;162;p25"/>
          <p:cNvSpPr txBox="1"/>
          <p:nvPr>
            <p:ph type="title"/>
          </p:nvPr>
        </p:nvSpPr>
        <p:spPr>
          <a:xfrm>
            <a:off x="0" y="0"/>
            <a:ext cx="9144000" cy="78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 Interaction</a:t>
            </a:r>
            <a:endParaRPr sz="282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6" title="Uno_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801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Uno. “Original Uno Rules.” </a:t>
            </a:r>
            <a:r>
              <a:rPr i="1"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Original Uno Rules</a:t>
            </a: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, 2009, https://www.unorules.com. Accessed 14 September 2026. </a:t>
            </a:r>
            <a:endParaRPr sz="1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Uno. “UNO Cards－UNO!™ – the Official UNO mobile game.” </a:t>
            </a:r>
            <a:r>
              <a:rPr i="1"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UNO!</a:t>
            </a: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, 29 12 2017, https://www.letsplayuno.com/news/guide/20181213/30092_732567.html. Accessed 14 September 2026. </a:t>
            </a:r>
            <a:endParaRPr sz="1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7"/>
          <p:cNvSpPr txBox="1"/>
          <p:nvPr>
            <p:ph type="title"/>
          </p:nvPr>
        </p:nvSpPr>
        <p:spPr>
          <a:xfrm>
            <a:off x="0" y="0"/>
            <a:ext cx="9144000" cy="78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Resources</a:t>
            </a:r>
            <a:endParaRPr sz="282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